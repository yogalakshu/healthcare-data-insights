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72" r:id="rId7"/>
    <p:sldId id="263" r:id="rId8"/>
    <p:sldId id="264" r:id="rId9"/>
    <p:sldId id="269" r:id="rId10"/>
    <p:sldId id="271"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4" d="100"/>
          <a:sy n="64" d="100"/>
        </p:scale>
        <p:origin x="3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F318CC04-A65F-47D5-9FC7-371D42DA5A27}" type="datetimeFigureOut">
              <a:rPr lang="en-US" smtClean="0"/>
              <a:t>5/4/2025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CA2FD9C-C08B-4840-800F-FCB9E0F798F0}"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13546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8CC04-A65F-47D5-9FC7-371D42DA5A2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2827050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8CC04-A65F-47D5-9FC7-371D42DA5A2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2FD9C-C08B-4840-800F-FCB9E0F798F0}"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5551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18CC04-A65F-47D5-9FC7-371D42DA5A27}"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25200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18CC04-A65F-47D5-9FC7-371D42DA5A27}" type="datetimeFigureOut">
              <a:rPr lang="en-US" smtClean="0"/>
              <a:t>5/4/2025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3687817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18CC04-A65F-47D5-9FC7-371D42DA5A27}" type="datetimeFigureOut">
              <a:rPr lang="en-US" smtClean="0"/>
              <a:t>5/4/2025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665877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18CC04-A65F-47D5-9FC7-371D42DA5A27}" type="datetimeFigureOut">
              <a:rPr lang="en-US" smtClean="0"/>
              <a:t>5/4/2025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3925360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18CC04-A65F-47D5-9FC7-371D42DA5A27}"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2355655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18CC04-A65F-47D5-9FC7-371D42DA5A27}"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3314483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8CC04-A65F-47D5-9FC7-371D42DA5A2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1111743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8CC04-A65F-47D5-9FC7-371D42DA5A2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2FD9C-C08B-4840-800F-FCB9E0F798F0}" type="slidenum">
              <a:rPr lang="en-US" smtClean="0"/>
              <a:t>‹#›</a:t>
            </a:fld>
            <a:endParaRPr lang="en-US"/>
          </a:p>
        </p:txBody>
      </p:sp>
    </p:spTree>
    <p:extLst>
      <p:ext uri="{BB962C8B-B14F-4D97-AF65-F5344CB8AC3E}">
        <p14:creationId xmlns:p14="http://schemas.microsoft.com/office/powerpoint/2010/main" val="3752029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318CC04-A65F-47D5-9FC7-371D42DA5A27}" type="datetimeFigureOut">
              <a:rPr lang="en-US" smtClean="0"/>
              <a:t>5/4/2025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CA2FD9C-C08B-4840-800F-FCB9E0F798F0}" type="slidenum">
              <a:rPr lang="en-US" smtClean="0"/>
              <a:t>‹#›</a:t>
            </a:fld>
            <a:endParaRPr lang="en-US"/>
          </a:p>
        </p:txBody>
      </p:sp>
    </p:spTree>
    <p:extLst>
      <p:ext uri="{BB962C8B-B14F-4D97-AF65-F5344CB8AC3E}">
        <p14:creationId xmlns:p14="http://schemas.microsoft.com/office/powerpoint/2010/main" val="32360020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345233"/>
            <a:ext cx="9418320" cy="5145833"/>
          </a:xfrm>
        </p:spPr>
        <p:txBody>
          <a:bodyPr>
            <a:normAutofit/>
          </a:bodyPr>
          <a:lstStyle/>
          <a:p>
            <a:br>
              <a:rPr lang="en-US" dirty="0"/>
            </a:br>
            <a:br>
              <a:rPr lang="en-US" dirty="0"/>
            </a:br>
            <a:r>
              <a:rPr lang="en-US" dirty="0"/>
              <a:t>Healthcare Data Insights</a:t>
            </a:r>
          </a:p>
        </p:txBody>
      </p:sp>
    </p:spTree>
    <p:extLst>
      <p:ext uri="{BB962C8B-B14F-4D97-AF65-F5344CB8AC3E}">
        <p14:creationId xmlns:p14="http://schemas.microsoft.com/office/powerpoint/2010/main" val="2938374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p:txBody>
          <a:bodyPr/>
          <a:lstStyle/>
          <a:p>
            <a:pPr marL="0" indent="0">
              <a:buNone/>
            </a:pPr>
            <a:r>
              <a:rPr lang="en-GB" dirty="0"/>
              <a:t>This project aims to </a:t>
            </a:r>
            <a:r>
              <a:rPr lang="en-GB" dirty="0" err="1"/>
              <a:t>analyze</a:t>
            </a:r>
            <a:r>
              <a:rPr lang="en-GB" dirty="0"/>
              <a:t> hospital and healthcare data to improve patient care, optimize resource allocation, enhance medical staff performance, and streamline hospital operations. Through data collection, cleaning, SQL querying, trend analysis in Excel, and Power BI dashboard creation, our team delivers actionable insights for healthcare service improvement.</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798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Goal</a:t>
            </a:r>
          </a:p>
        </p:txBody>
      </p:sp>
      <p:sp>
        <p:nvSpPr>
          <p:cNvPr id="5" name="Rectangle 2">
            <a:extLst>
              <a:ext uri="{FF2B5EF4-FFF2-40B4-BE49-F238E27FC236}">
                <a16:creationId xmlns:a16="http://schemas.microsoft.com/office/drawing/2014/main" id="{283A4A76-7B35-A89B-1AD2-9A7BC383CCBF}"/>
              </a:ext>
            </a:extLst>
          </p:cNvPr>
          <p:cNvSpPr>
            <a:spLocks noGrp="1" noChangeArrowheads="1"/>
          </p:cNvSpPr>
          <p:nvPr>
            <p:ph idx="1"/>
          </p:nvPr>
        </p:nvSpPr>
        <p:spPr bwMode="auto">
          <a:xfrm>
            <a:off x="1261872" y="2030384"/>
            <a:ext cx="7646132"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identify trends in patient care and treatment outcomes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optimize hospital resource utilization and bed occupancy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evaluate staff performance and scheduling effectiveness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improve operational efficiency using data-driven decisions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create an interactive Power BI dashboard for stakeholder use</a:t>
            </a:r>
          </a:p>
        </p:txBody>
      </p:sp>
    </p:spTree>
    <p:extLst>
      <p:ext uri="{BB962C8B-B14F-4D97-AF65-F5344CB8AC3E}">
        <p14:creationId xmlns:p14="http://schemas.microsoft.com/office/powerpoint/2010/main" val="1266114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Tools &amp; Technologies Used</a:t>
            </a:r>
          </a:p>
        </p:txBody>
      </p:sp>
      <p:sp>
        <p:nvSpPr>
          <p:cNvPr id="5" name="Rectangle 2">
            <a:extLst>
              <a:ext uri="{FF2B5EF4-FFF2-40B4-BE49-F238E27FC236}">
                <a16:creationId xmlns:a16="http://schemas.microsoft.com/office/drawing/2014/main" id="{B434D83C-CF24-6F25-5731-E1A9ADB96C84}"/>
              </a:ext>
            </a:extLst>
          </p:cNvPr>
          <p:cNvSpPr>
            <a:spLocks noGrp="1" noChangeArrowheads="1"/>
          </p:cNvSpPr>
          <p:nvPr>
            <p:ph idx="1"/>
          </p:nvPr>
        </p:nvSpPr>
        <p:spPr bwMode="auto">
          <a:xfrm>
            <a:off x="1192861" y="2448918"/>
            <a:ext cx="7431522" cy="142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Microsoft Excel</a:t>
            </a:r>
            <a:r>
              <a:rPr kumimoji="0" lang="en-US" altLang="en-US" sz="2000" b="0" i="0" u="none" strike="noStrike" cap="none" normalizeH="0" baseline="0" dirty="0">
                <a:ln>
                  <a:noFill/>
                </a:ln>
                <a:solidFill>
                  <a:schemeClr val="tx1"/>
                </a:solidFill>
                <a:effectLst/>
                <a:latin typeface="Arial" panose="020B0604020202020204" pitchFamily="34" charset="0"/>
              </a:rPr>
              <a:t>: Data cleaning, preprocessing, trend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MySQL</a:t>
            </a:r>
            <a:r>
              <a:rPr kumimoji="0" lang="en-US" altLang="en-US" sz="2000" b="0" i="0" u="none" strike="noStrike" cap="none" normalizeH="0" baseline="0" dirty="0">
                <a:ln>
                  <a:noFill/>
                </a:ln>
                <a:solidFill>
                  <a:schemeClr val="tx1"/>
                </a:solidFill>
                <a:effectLst/>
                <a:latin typeface="Arial" panose="020B0604020202020204" pitchFamily="34" charset="0"/>
              </a:rPr>
              <a:t>: Data storage, querying, transformation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Power BI</a:t>
            </a:r>
            <a:r>
              <a:rPr kumimoji="0" lang="en-US" altLang="en-US" sz="2000" b="0" i="0" u="none" strike="noStrike" cap="none" normalizeH="0" baseline="0" dirty="0">
                <a:ln>
                  <a:noFill/>
                </a:ln>
                <a:solidFill>
                  <a:schemeClr val="tx1"/>
                </a:solidFill>
                <a:effectLst/>
                <a:latin typeface="Arial" panose="020B0604020202020204" pitchFamily="34" charset="0"/>
              </a:rPr>
              <a:t>: Interactive dashboards for visualizing insights</a:t>
            </a:r>
          </a:p>
        </p:txBody>
      </p:sp>
    </p:spTree>
    <p:extLst>
      <p:ext uri="{BB962C8B-B14F-4D97-AF65-F5344CB8AC3E}">
        <p14:creationId xmlns:p14="http://schemas.microsoft.com/office/powerpoint/2010/main" val="260094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Dataset Overview</a:t>
            </a:r>
          </a:p>
        </p:txBody>
      </p:sp>
      <p:sp>
        <p:nvSpPr>
          <p:cNvPr id="3" name="Content Placeholder 2"/>
          <p:cNvSpPr>
            <a:spLocks noGrp="1"/>
          </p:cNvSpPr>
          <p:nvPr>
            <p:ph idx="1"/>
          </p:nvPr>
        </p:nvSpPr>
        <p:spPr/>
        <p:txBody>
          <a:bodyPr/>
          <a:lstStyle/>
          <a:p>
            <a:pPr>
              <a:buNone/>
            </a:pPr>
            <a:r>
              <a:rPr lang="en-IN" dirty="0"/>
              <a:t>The dataset includes:</a:t>
            </a:r>
          </a:p>
          <a:p>
            <a:pPr>
              <a:buFont typeface="Arial" panose="020B0604020202020204" pitchFamily="34" charset="0"/>
              <a:buChar char="•"/>
            </a:pPr>
            <a:r>
              <a:rPr lang="en-IN" dirty="0"/>
              <a:t>Patient demographics &amp; gender</a:t>
            </a:r>
          </a:p>
          <a:p>
            <a:pPr>
              <a:buFont typeface="Arial" panose="020B0604020202020204" pitchFamily="34" charset="0"/>
              <a:buChar char="•"/>
            </a:pPr>
            <a:r>
              <a:rPr lang="en-IN" dirty="0"/>
              <a:t>Appointment and admission dates</a:t>
            </a:r>
          </a:p>
          <a:p>
            <a:pPr>
              <a:buFont typeface="Arial" panose="020B0604020202020204" pitchFamily="34" charset="0"/>
              <a:buChar char="•"/>
            </a:pPr>
            <a:r>
              <a:rPr lang="en-IN" dirty="0"/>
              <a:t>Admission types (Emergency/OPD)</a:t>
            </a:r>
          </a:p>
          <a:p>
            <a:pPr>
              <a:buFont typeface="Arial" panose="020B0604020202020204" pitchFamily="34" charset="0"/>
              <a:buChar char="•"/>
            </a:pPr>
            <a:r>
              <a:rPr lang="en-IN" dirty="0"/>
              <a:t>Duration of stay (ICU &amp; general)</a:t>
            </a:r>
          </a:p>
          <a:p>
            <a:pPr>
              <a:buFont typeface="Arial" panose="020B0604020202020204" pitchFamily="34" charset="0"/>
              <a:buChar char="•"/>
            </a:pPr>
            <a:r>
              <a:rPr lang="en-IN" dirty="0"/>
              <a:t>Hospital occupancy rate</a:t>
            </a:r>
          </a:p>
          <a:p>
            <a:pPr>
              <a:buFont typeface="Arial" panose="020B0604020202020204" pitchFamily="34" charset="0"/>
              <a:buChar char="•"/>
            </a:pPr>
            <a:r>
              <a:rPr lang="en-IN" dirty="0"/>
              <a:t>Outcome (Discharged, Deceased, etc.)</a:t>
            </a:r>
          </a:p>
          <a:p>
            <a:pPr>
              <a:buFont typeface="Arial" panose="020B0604020202020204" pitchFamily="34" charset="0"/>
              <a:buChar char="•"/>
            </a:pPr>
            <a:r>
              <a:rPr lang="en-IN" dirty="0"/>
              <a:t>Staff performance rating</a:t>
            </a:r>
          </a:p>
        </p:txBody>
      </p:sp>
    </p:spTree>
    <p:extLst>
      <p:ext uri="{BB962C8B-B14F-4D97-AF65-F5344CB8AC3E}">
        <p14:creationId xmlns:p14="http://schemas.microsoft.com/office/powerpoint/2010/main" val="965388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F4364-27ED-AECA-78BC-577445A6E756}"/>
              </a:ext>
            </a:extLst>
          </p:cNvPr>
          <p:cNvSpPr>
            <a:spLocks noGrp="1"/>
          </p:cNvSpPr>
          <p:nvPr>
            <p:ph type="title"/>
          </p:nvPr>
        </p:nvSpPr>
        <p:spPr/>
        <p:txBody>
          <a:bodyPr/>
          <a:lstStyle/>
          <a:p>
            <a:r>
              <a:rPr lang="en-US" b="1" dirty="0"/>
              <a:t>DAX Queries Used</a:t>
            </a:r>
            <a:endParaRPr lang="en-IN" dirty="0"/>
          </a:p>
        </p:txBody>
      </p:sp>
      <p:sp>
        <p:nvSpPr>
          <p:cNvPr id="3" name="Content Placeholder 2">
            <a:extLst>
              <a:ext uri="{FF2B5EF4-FFF2-40B4-BE49-F238E27FC236}">
                <a16:creationId xmlns:a16="http://schemas.microsoft.com/office/drawing/2014/main" id="{CDC4FDB3-345A-62E7-6DBC-FF4B3E8535A8}"/>
              </a:ext>
            </a:extLst>
          </p:cNvPr>
          <p:cNvSpPr>
            <a:spLocks noGrp="1"/>
          </p:cNvSpPr>
          <p:nvPr>
            <p:ph idx="1"/>
          </p:nvPr>
        </p:nvSpPr>
        <p:spPr/>
        <p:txBody>
          <a:bodyPr/>
          <a:lstStyle/>
          <a:p>
            <a:r>
              <a:rPr lang="en-GB" dirty="0"/>
              <a:t>Total Patients = COUNT('Sheet1'[PATIENT_NAME])</a:t>
            </a:r>
          </a:p>
          <a:p>
            <a:r>
              <a:rPr lang="en-GB" dirty="0"/>
              <a:t>Average Stay Duration = AVERAGE('Sheet1'[DURATION OF STAY])</a:t>
            </a:r>
          </a:p>
          <a:p>
            <a:r>
              <a:rPr lang="en-GB" dirty="0"/>
              <a:t>Average ICU Stay = AVERAGE('Sheet1'[DURATION OF INTENSIVE UNIT STAY])</a:t>
            </a:r>
          </a:p>
          <a:p>
            <a:r>
              <a:rPr lang="en-GB" dirty="0" err="1"/>
              <a:t>Avg</a:t>
            </a:r>
            <a:r>
              <a:rPr lang="en-GB" dirty="0"/>
              <a:t> Occupancy Rate = AVERAGE ('Sheet1’ [HOSPITAL_ OCCUPANCY_ RATE])</a:t>
            </a:r>
          </a:p>
          <a:p>
            <a:r>
              <a:rPr lang="en-GB" dirty="0"/>
              <a:t>Emergency Admissions = CALCULATE(COUNTROWS('Sheet1'), 'Sheet1’ [TYPE OF ADMISSION-EMERGENCY/OPD] = "E")  </a:t>
            </a:r>
          </a:p>
          <a:p>
            <a:r>
              <a:rPr lang="en-GB" dirty="0"/>
              <a:t>OPD Admissions = CALCULATE(COUNTROWS('Sheet1'), 'Sheet1'[TYPE OF ADMISSION-EMERGENCY/OPD] = "O")</a:t>
            </a:r>
          </a:p>
          <a:p>
            <a:endParaRPr lang="en-IN" dirty="0"/>
          </a:p>
        </p:txBody>
      </p:sp>
    </p:spTree>
    <p:extLst>
      <p:ext uri="{BB962C8B-B14F-4D97-AF65-F5344CB8AC3E}">
        <p14:creationId xmlns:p14="http://schemas.microsoft.com/office/powerpoint/2010/main" val="3855191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682" y="365760"/>
            <a:ext cx="9692640" cy="1325562"/>
          </a:xfrm>
        </p:spPr>
        <p:txBody>
          <a:bodyPr/>
          <a:lstStyle/>
          <a:p>
            <a:r>
              <a:rPr lang="en-US" b="1" dirty="0"/>
              <a:t>SQL Queries Used</a:t>
            </a:r>
          </a:p>
        </p:txBody>
      </p:sp>
      <p:sp>
        <p:nvSpPr>
          <p:cNvPr id="3" name="Content Placeholder 2"/>
          <p:cNvSpPr>
            <a:spLocks noGrp="1"/>
          </p:cNvSpPr>
          <p:nvPr>
            <p:ph idx="1"/>
          </p:nvPr>
        </p:nvSpPr>
        <p:spPr>
          <a:xfrm>
            <a:off x="873682" y="1691322"/>
            <a:ext cx="9029441" cy="4511615"/>
          </a:xfrm>
        </p:spPr>
        <p:txBody>
          <a:bodyPr>
            <a:normAutofit fontScale="92500" lnSpcReduction="20000"/>
          </a:bodyPr>
          <a:lstStyle/>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1.</a:t>
            </a:r>
            <a:r>
              <a:rPr lang="en-GB" dirty="0"/>
              <a:t> Average Hospital Stay by Department</a:t>
            </a:r>
            <a:endParaRPr lang="en-GB"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SELECT Department, AVG(DURATION OF STAY) AS </a:t>
            </a:r>
            <a:r>
              <a:rPr lang="en-GB" dirty="0" err="1">
                <a:latin typeface="Calibri" panose="020F0502020204030204" pitchFamily="34" charset="0"/>
                <a:ea typeface="Calibri" panose="020F0502020204030204" pitchFamily="34" charset="0"/>
                <a:cs typeface="Calibri" panose="020F0502020204030204" pitchFamily="34" charset="0"/>
              </a:rPr>
              <a:t>Avg_Stay_DaysFROM</a:t>
            </a:r>
            <a:r>
              <a:rPr lang="en-GB" dirty="0">
                <a:latin typeface="Calibri" panose="020F0502020204030204" pitchFamily="34" charset="0"/>
                <a:ea typeface="Calibri" panose="020F0502020204030204" pitchFamily="34" charset="0"/>
                <a:cs typeface="Calibri" panose="020F0502020204030204" pitchFamily="34" charset="0"/>
              </a:rPr>
              <a:t> final data hospital GROUPBY Department;</a:t>
            </a: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SHOW TABLES;</a:t>
            </a: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SHOW CREATE TABLE </a:t>
            </a:r>
            <a:r>
              <a:rPr lang="en-GB" dirty="0" err="1">
                <a:latin typeface="Calibri" panose="020F0502020204030204" pitchFamily="34" charset="0"/>
                <a:ea typeface="Calibri" panose="020F0502020204030204" pitchFamily="34" charset="0"/>
                <a:cs typeface="Calibri" panose="020F0502020204030204" pitchFamily="34" charset="0"/>
              </a:rPr>
              <a:t>final_data_hospital</a:t>
            </a:r>
            <a:r>
              <a:rPr lang="en-GB" dirty="0">
                <a:latin typeface="Calibri" panose="020F0502020204030204" pitchFamily="34" charset="0"/>
                <a:ea typeface="Calibri" panose="020F0502020204030204" pitchFamily="34" charset="0"/>
                <a:cs typeface="Calibri" panose="020F0502020204030204" pitchFamily="34" charset="0"/>
              </a:rPr>
              <a:t>;</a:t>
            </a: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2.Department Wise Stay Details</a:t>
            </a: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SELECT Department, AVG(DURATION OF STAY) AS </a:t>
            </a:r>
            <a:r>
              <a:rPr lang="en-GB" dirty="0" err="1">
                <a:latin typeface="Calibri" panose="020F0502020204030204" pitchFamily="34" charset="0"/>
                <a:ea typeface="Calibri" panose="020F0502020204030204" pitchFamily="34" charset="0"/>
                <a:cs typeface="Calibri" panose="020F0502020204030204" pitchFamily="34" charset="0"/>
              </a:rPr>
              <a:t>Avg_Stay_DaysFROM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a:t>
            </a:r>
            <a:r>
              <a:rPr lang="en-GB" dirty="0">
                <a:latin typeface="Calibri" panose="020F0502020204030204" pitchFamily="34" charset="0"/>
                <a:ea typeface="Calibri" panose="020F0502020204030204" pitchFamily="34" charset="0"/>
                <a:cs typeface="Calibri" panose="020F0502020204030204" pitchFamily="34" charset="0"/>
              </a:rPr>
              <a:t> GROUPBY Department;</a:t>
            </a: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3.</a:t>
            </a:r>
            <a:r>
              <a:rPr lang="en-GB" b="1" dirty="0"/>
              <a:t> </a:t>
            </a:r>
            <a:r>
              <a:rPr lang="en-GB" dirty="0"/>
              <a:t>Total Patients by Gender</a:t>
            </a:r>
            <a:endParaRPr lang="en-GB"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SELECT GENDER, COUNT(*) AS </a:t>
            </a:r>
            <a:r>
              <a:rPr lang="en-GB" dirty="0" err="1">
                <a:latin typeface="Calibri" panose="020F0502020204030204" pitchFamily="34" charset="0"/>
                <a:ea typeface="Calibri" panose="020F0502020204030204" pitchFamily="34" charset="0"/>
                <a:cs typeface="Calibri" panose="020F0502020204030204" pitchFamily="34" charset="0"/>
              </a:rPr>
              <a:t>Total_PatientsFROM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a:t>
            </a:r>
            <a:r>
              <a:rPr lang="en-GB" dirty="0">
                <a:latin typeface="Calibri" panose="020F0502020204030204" pitchFamily="34" charset="0"/>
                <a:ea typeface="Calibri" panose="020F0502020204030204" pitchFamily="34" charset="0"/>
                <a:cs typeface="Calibri" panose="020F0502020204030204" pitchFamily="34" charset="0"/>
              </a:rPr>
              <a:t> GROUPBY GENDER;	</a:t>
            </a: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4.</a:t>
            </a:r>
            <a:r>
              <a:rPr lang="en-GB" b="1" dirty="0"/>
              <a:t> </a:t>
            </a:r>
            <a:r>
              <a:rPr lang="en-GB" dirty="0"/>
              <a:t>Total Patients by Count</a:t>
            </a:r>
            <a:endParaRPr lang="en-GB"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en-GB" dirty="0">
                <a:latin typeface="Calibri" panose="020F0502020204030204" pitchFamily="34" charset="0"/>
                <a:ea typeface="Calibri" panose="020F0502020204030204" pitchFamily="34" charset="0"/>
                <a:cs typeface="Calibri" panose="020F0502020204030204" pitchFamily="34" charset="0"/>
              </a:rPr>
              <a:t>SELECT OUTCOME, COUNT(*) AS </a:t>
            </a:r>
            <a:r>
              <a:rPr lang="en-GB" dirty="0" err="1">
                <a:latin typeface="Calibri" panose="020F0502020204030204" pitchFamily="34" charset="0"/>
                <a:ea typeface="Calibri" panose="020F0502020204030204" pitchFamily="34" charset="0"/>
                <a:cs typeface="Calibri" panose="020F0502020204030204" pitchFamily="34" charset="0"/>
              </a:rPr>
              <a:t>Total_CasesFROM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a:t>
            </a:r>
            <a:r>
              <a:rPr lang="en-GB">
                <a:latin typeface="Calibri" panose="020F0502020204030204" pitchFamily="34" charset="0"/>
                <a:ea typeface="Calibri" panose="020F0502020204030204" pitchFamily="34" charset="0"/>
                <a:cs typeface="Calibri" panose="020F0502020204030204" pitchFamily="34" charset="0"/>
              </a:rPr>
              <a:t> GROUPBY </a:t>
            </a:r>
            <a:r>
              <a:rPr lang="en-GB" dirty="0">
                <a:latin typeface="Calibri" panose="020F0502020204030204" pitchFamily="34" charset="0"/>
                <a:ea typeface="Calibri" panose="020F0502020204030204" pitchFamily="34" charset="0"/>
                <a:cs typeface="Calibri" panose="020F0502020204030204" pitchFamily="34" charset="0"/>
              </a:rPr>
              <a:t>OUTCOME;</a:t>
            </a:r>
          </a:p>
        </p:txBody>
      </p:sp>
    </p:spTree>
    <p:extLst>
      <p:ext uri="{BB962C8B-B14F-4D97-AF65-F5344CB8AC3E}">
        <p14:creationId xmlns:p14="http://schemas.microsoft.com/office/powerpoint/2010/main" val="1870681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9197" y="724959"/>
            <a:ext cx="8924903" cy="5713972"/>
          </a:xfrm>
        </p:spPr>
        <p:txBody>
          <a:bodyPr>
            <a:normAutofit/>
          </a:bodyPr>
          <a:lstStyle/>
          <a:p>
            <a:pPr marL="0" indent="0">
              <a:buNone/>
            </a:pPr>
            <a:r>
              <a:rPr lang="en-GB" dirty="0"/>
              <a:t>5.Admission Type Analysis: Emergency vs OPD</a:t>
            </a:r>
          </a:p>
          <a:p>
            <a:pPr marL="0" indent="0">
              <a:buNone/>
            </a:pPr>
            <a:r>
              <a:rPr lang="en-GB" dirty="0">
                <a:latin typeface="Calibri" panose="020F0502020204030204" pitchFamily="34" charset="0"/>
                <a:ea typeface="Calibri" panose="020F0502020204030204" pitchFamily="34" charset="0"/>
                <a:cs typeface="Calibri" panose="020F0502020204030204" pitchFamily="34" charset="0"/>
              </a:rPr>
              <a:t>SELECT TYPE OF ADMISSION-EMERGENCY/OPD AS </a:t>
            </a:r>
            <a:r>
              <a:rPr lang="en-GB" dirty="0" err="1">
                <a:latin typeface="Calibri" panose="020F0502020204030204" pitchFamily="34" charset="0"/>
                <a:ea typeface="Calibri" panose="020F0502020204030204" pitchFamily="34" charset="0"/>
                <a:cs typeface="Calibri" panose="020F0502020204030204" pitchFamily="34" charset="0"/>
              </a:rPr>
              <a:t>Admission_Type</a:t>
            </a:r>
            <a:r>
              <a:rPr lang="en-GB" dirty="0">
                <a:latin typeface="Calibri" panose="020F0502020204030204" pitchFamily="34" charset="0"/>
                <a:ea typeface="Calibri" panose="020F0502020204030204" pitchFamily="34" charset="0"/>
                <a:cs typeface="Calibri" panose="020F0502020204030204" pitchFamily="34" charset="0"/>
              </a:rPr>
              <a:t>, COUNT(*) AS </a:t>
            </a:r>
            <a:r>
              <a:rPr lang="en-GB" dirty="0" err="1">
                <a:latin typeface="Calibri" panose="020F0502020204030204" pitchFamily="34" charset="0"/>
                <a:ea typeface="Calibri" panose="020F0502020204030204" pitchFamily="34" charset="0"/>
                <a:cs typeface="Calibri" panose="020F0502020204030204" pitchFamily="34" charset="0"/>
              </a:rPr>
              <a:t>TotalFROM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final_data_hospitalGROUP</a:t>
            </a:r>
            <a:r>
              <a:rPr lang="en-GB" dirty="0">
                <a:latin typeface="Calibri" panose="020F0502020204030204" pitchFamily="34" charset="0"/>
                <a:ea typeface="Calibri" panose="020F0502020204030204" pitchFamily="34" charset="0"/>
                <a:cs typeface="Calibri" panose="020F0502020204030204" pitchFamily="34" charset="0"/>
              </a:rPr>
              <a:t> BY TYPE OF ADMISSION-EMERGENCY/OPD;</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6.</a:t>
            </a:r>
            <a:r>
              <a:rPr lang="en-GB" dirty="0"/>
              <a:t> Patient Distribution by Region Type (Rural/Urban)</a:t>
            </a:r>
          </a:p>
          <a:p>
            <a:pPr marL="0" indent="0">
              <a:buNone/>
            </a:pPr>
            <a:r>
              <a:rPr lang="en-GB" dirty="0">
                <a:latin typeface="Calibri" panose="020F0502020204030204" pitchFamily="34" charset="0"/>
                <a:ea typeface="Calibri" panose="020F0502020204030204" pitchFamily="34" charset="0"/>
                <a:cs typeface="Calibri" panose="020F0502020204030204" pitchFamily="34" charset="0"/>
              </a:rPr>
              <a:t>SELECT RURAL AS </a:t>
            </a:r>
            <a:r>
              <a:rPr lang="en-GB" dirty="0" err="1">
                <a:latin typeface="Calibri" panose="020F0502020204030204" pitchFamily="34" charset="0"/>
                <a:ea typeface="Calibri" panose="020F0502020204030204" pitchFamily="34" charset="0"/>
                <a:cs typeface="Calibri" panose="020F0502020204030204" pitchFamily="34" charset="0"/>
              </a:rPr>
              <a:t>Region_Type</a:t>
            </a:r>
            <a:r>
              <a:rPr lang="en-GB" dirty="0">
                <a:latin typeface="Calibri" panose="020F0502020204030204" pitchFamily="34" charset="0"/>
                <a:ea typeface="Calibri" panose="020F0502020204030204" pitchFamily="34" charset="0"/>
                <a:cs typeface="Calibri" panose="020F0502020204030204" pitchFamily="34" charset="0"/>
              </a:rPr>
              <a:t>, COUNT(*) AS </a:t>
            </a:r>
            <a:r>
              <a:rPr lang="en-GB" dirty="0" err="1">
                <a:latin typeface="Calibri" panose="020F0502020204030204" pitchFamily="34" charset="0"/>
                <a:ea typeface="Calibri" panose="020F0502020204030204" pitchFamily="34" charset="0"/>
                <a:cs typeface="Calibri" panose="020F0502020204030204" pitchFamily="34" charset="0"/>
              </a:rPr>
              <a:t>Total_PatientsFROM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final_data_hospitalGROUP</a:t>
            </a:r>
            <a:r>
              <a:rPr lang="en-GB" dirty="0">
                <a:latin typeface="Calibri" panose="020F0502020204030204" pitchFamily="34" charset="0"/>
                <a:ea typeface="Calibri" panose="020F0502020204030204" pitchFamily="34" charset="0"/>
                <a:cs typeface="Calibri" panose="020F0502020204030204" pitchFamily="34" charset="0"/>
              </a:rPr>
              <a:t> BY RURAL;</a:t>
            </a:r>
          </a:p>
          <a:p>
            <a:pPr marL="0" indent="0">
              <a:buNone/>
            </a:pPr>
            <a:r>
              <a:rPr lang="en-GB" dirty="0">
                <a:latin typeface="Calibri" panose="020F0502020204030204" pitchFamily="34" charset="0"/>
                <a:ea typeface="Calibri" panose="020F0502020204030204" pitchFamily="34" charset="0"/>
                <a:cs typeface="Calibri" panose="020F0502020204030204" pitchFamily="34" charset="0"/>
              </a:rPr>
              <a:t>7.</a:t>
            </a:r>
            <a:r>
              <a:rPr lang="en-GB" dirty="0"/>
              <a:t> Average Performance Rating by Staff Role</a:t>
            </a:r>
            <a:endParaRPr lang="en-GB"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GB" dirty="0">
                <a:latin typeface="Calibri" panose="020F0502020204030204" pitchFamily="34" charset="0"/>
                <a:ea typeface="Calibri" panose="020F0502020204030204" pitchFamily="34" charset="0"/>
                <a:cs typeface="Calibri" panose="020F0502020204030204" pitchFamily="34" charset="0"/>
              </a:rPr>
              <a:t>SELECT STAFF_ROLE, AVG(STAFF_PERFORMANCE_RATING) AS </a:t>
            </a:r>
            <a:r>
              <a:rPr lang="en-GB" dirty="0" err="1">
                <a:latin typeface="Calibri" panose="020F0502020204030204" pitchFamily="34" charset="0"/>
                <a:ea typeface="Calibri" panose="020F0502020204030204" pitchFamily="34" charset="0"/>
                <a:cs typeface="Calibri" panose="020F0502020204030204" pitchFamily="34" charset="0"/>
              </a:rPr>
              <a:t>Avg_PerformanceFROM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final_data_hospitalGROUP</a:t>
            </a:r>
            <a:r>
              <a:rPr lang="en-GB" dirty="0">
                <a:latin typeface="Calibri" panose="020F0502020204030204" pitchFamily="34" charset="0"/>
                <a:ea typeface="Calibri" panose="020F0502020204030204" pitchFamily="34" charset="0"/>
                <a:cs typeface="Calibri" panose="020F0502020204030204" pitchFamily="34" charset="0"/>
              </a:rPr>
              <a:t> BY STAFF_ROLE;</a:t>
            </a:r>
          </a:p>
          <a:p>
            <a:pPr marL="0" indent="0">
              <a:buNone/>
            </a:pPr>
            <a:r>
              <a:rPr lang="en-GB" dirty="0">
                <a:latin typeface="Calibri" panose="020F0502020204030204" pitchFamily="34" charset="0"/>
                <a:ea typeface="Calibri" panose="020F0502020204030204" pitchFamily="34" charset="0"/>
                <a:cs typeface="Calibri" panose="020F0502020204030204" pitchFamily="34" charset="0"/>
              </a:rPr>
              <a:t>8.</a:t>
            </a:r>
            <a:r>
              <a:rPr lang="en-IN" dirty="0"/>
              <a:t> Monthly Appointment Trends</a:t>
            </a:r>
            <a:endParaRPr lang="en-GB"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GB" dirty="0">
                <a:latin typeface="Calibri" panose="020F0502020204030204" pitchFamily="34" charset="0"/>
                <a:ea typeface="Calibri" panose="020F0502020204030204" pitchFamily="34" charset="0"/>
                <a:cs typeface="Calibri" panose="020F0502020204030204" pitchFamily="34" charset="0"/>
              </a:rPr>
              <a:t>SELECT     MONTH(Appointment Date) AS Month,    COUNT(*) AS </a:t>
            </a:r>
            <a:r>
              <a:rPr lang="en-GB" dirty="0" err="1">
                <a:latin typeface="Calibri" panose="020F0502020204030204" pitchFamily="34" charset="0"/>
                <a:ea typeface="Calibri" panose="020F0502020204030204" pitchFamily="34" charset="0"/>
                <a:cs typeface="Calibri" panose="020F0502020204030204" pitchFamily="34" charset="0"/>
              </a:rPr>
              <a:t>Appointment_CountFROM</a:t>
            </a:r>
            <a:r>
              <a:rPr lang="en-GB" dirty="0">
                <a:latin typeface="Calibri" panose="020F0502020204030204" pitchFamily="34" charset="0"/>
                <a:ea typeface="Calibri" panose="020F0502020204030204" pitchFamily="34" charset="0"/>
                <a:cs typeface="Calibri" panose="020F0502020204030204" pitchFamily="34" charset="0"/>
              </a:rPr>
              <a:t> </a:t>
            </a:r>
            <a:r>
              <a:rPr lang="en-GB" dirty="0" err="1">
                <a:latin typeface="Calibri" panose="020F0502020204030204" pitchFamily="34" charset="0"/>
                <a:ea typeface="Calibri" panose="020F0502020204030204" pitchFamily="34" charset="0"/>
                <a:cs typeface="Calibri" panose="020F0502020204030204" pitchFamily="34" charset="0"/>
              </a:rPr>
              <a:t>final_data_hospitalGROUP</a:t>
            </a:r>
            <a:r>
              <a:rPr lang="en-GB" dirty="0">
                <a:latin typeface="Calibri" panose="020F0502020204030204" pitchFamily="34" charset="0"/>
                <a:ea typeface="Calibri" panose="020F0502020204030204" pitchFamily="34" charset="0"/>
                <a:cs typeface="Calibri" panose="020F0502020204030204" pitchFamily="34" charset="0"/>
              </a:rPr>
              <a:t> BY MONTH(Appointment Date)ORDER BY Month;</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0028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marR="0" algn="just">
              <a:lnSpc>
                <a:spcPct val="150000"/>
              </a:lnSpc>
              <a:spcBef>
                <a:spcPts val="2400"/>
              </a:spcBef>
              <a:spcAft>
                <a:spcPts val="0"/>
              </a:spcAft>
            </a:pPr>
            <a:r>
              <a:rPr lang="en-US" dirty="0"/>
              <a:t>Insights Derived</a:t>
            </a:r>
          </a:p>
        </p:txBody>
      </p:sp>
      <p:sp>
        <p:nvSpPr>
          <p:cNvPr id="5" name="Rectangle 2">
            <a:extLst>
              <a:ext uri="{FF2B5EF4-FFF2-40B4-BE49-F238E27FC236}">
                <a16:creationId xmlns:a16="http://schemas.microsoft.com/office/drawing/2014/main" id="{98607979-882A-D7E9-18F3-FC1CE535BBE5}"/>
              </a:ext>
            </a:extLst>
          </p:cNvPr>
          <p:cNvSpPr>
            <a:spLocks noGrp="1" noChangeArrowheads="1"/>
          </p:cNvSpPr>
          <p:nvPr>
            <p:ph idx="1"/>
          </p:nvPr>
        </p:nvSpPr>
        <p:spPr bwMode="auto">
          <a:xfrm>
            <a:off x="563133" y="1855468"/>
            <a:ext cx="980581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00000"/>
              </a:lnSpc>
            </a:pPr>
            <a:r>
              <a:rPr lang="en-GB" sz="1500" b="1" dirty="0"/>
              <a:t>Emergency Admissions Peak on Weekends :</a:t>
            </a:r>
            <a:r>
              <a:rPr lang="en-GB" sz="1500" dirty="0"/>
              <a:t>Analysis reveals that the volume of emergency admissions tends to spike during weekends, likely due to limited outpatient services and increased accident or critical care cases. This insight can help hospitals pre-allocate emergency staff and resources more efficiently during weekends.</a:t>
            </a:r>
          </a:p>
          <a:p>
            <a:pPr algn="just">
              <a:lnSpc>
                <a:spcPct val="100000"/>
              </a:lnSpc>
            </a:pPr>
            <a:r>
              <a:rPr lang="en-GB" sz="1500" b="1" dirty="0"/>
              <a:t>Elderly Patients Require Longer ICU Stays :</a:t>
            </a:r>
            <a:r>
              <a:rPr lang="en-GB" sz="1500" dirty="0"/>
              <a:t>The data shows a clear trend: patients aged 60 and above have significantly longer durations in the intensive care unit (ICU). This reflects the need for more intensive monitoring and recovery time, suggesting a potential requirement for geriatric-focused ICU protocols and resource planning.</a:t>
            </a:r>
          </a:p>
          <a:p>
            <a:pPr algn="just">
              <a:lnSpc>
                <a:spcPct val="100000"/>
              </a:lnSpc>
            </a:pPr>
            <a:r>
              <a:rPr lang="en-GB" sz="1500" b="1" dirty="0"/>
              <a:t>Staff Performance Positively Affects Patient Outcomes :</a:t>
            </a:r>
            <a:r>
              <a:rPr lang="en-GB" sz="1500" dirty="0"/>
              <a:t>Departments with higher staff performance ratings tend to have a higher percentage of successful discharges and positive patient outcomes. This underscores the importance of continuous training, staff morale, and performance evaluations in driving clinical success.</a:t>
            </a:r>
          </a:p>
          <a:p>
            <a:pPr algn="just">
              <a:lnSpc>
                <a:spcPct val="100000"/>
              </a:lnSpc>
            </a:pPr>
            <a:r>
              <a:rPr lang="en-GB" sz="1500" b="1" dirty="0"/>
              <a:t>Appointment Volume Peaks Mid-Month :</a:t>
            </a:r>
            <a:r>
              <a:rPr lang="en-GB" sz="1500" dirty="0"/>
              <a:t>Appointment scheduling patterns indicate that the majority of outpatient visits are clustered around the middle of the month. This mid-month surge could be influenced by salary cycles, insurance cut-off dates, or habitual booking </a:t>
            </a:r>
            <a:r>
              <a:rPr lang="en-GB" sz="1500" dirty="0" err="1"/>
              <a:t>behavior</a:t>
            </a:r>
            <a:r>
              <a:rPr lang="en-GB" sz="1500" dirty="0"/>
              <a:t>, and it presents an opportunity to balance workloads more evenly throughout the month.</a:t>
            </a:r>
          </a:p>
        </p:txBody>
      </p:sp>
    </p:spTree>
    <p:extLst>
      <p:ext uri="{BB962C8B-B14F-4D97-AF65-F5344CB8AC3E}">
        <p14:creationId xmlns:p14="http://schemas.microsoft.com/office/powerpoint/2010/main" val="4254046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pPr marL="0" indent="0" algn="just">
              <a:lnSpc>
                <a:spcPct val="150000"/>
              </a:lnSpc>
              <a:buNone/>
            </a:pPr>
            <a:r>
              <a:rPr lang="en-GB" dirty="0"/>
              <a:t>This project demonstrates how hospital data can reveal key insights for improving services. By monitoring trends and metrics in Power BI, hospitals can take timely action to enhance care quality, reduce ICU congestion, and manage staff workload effectively.</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4780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17B2E2-71DA-C7DE-EB95-953FA8E954CB}"/>
              </a:ext>
            </a:extLst>
          </p:cNvPr>
          <p:cNvSpPr txBox="1"/>
          <p:nvPr/>
        </p:nvSpPr>
        <p:spPr>
          <a:xfrm>
            <a:off x="4271211" y="3059668"/>
            <a:ext cx="2786340" cy="369332"/>
          </a:xfrm>
          <a:prstGeom prst="rect">
            <a:avLst/>
          </a:prstGeom>
          <a:noFill/>
        </p:spPr>
        <p:txBody>
          <a:bodyPr wrap="none" rtlCol="0">
            <a:spAutoFit/>
          </a:bodyPr>
          <a:lstStyle/>
          <a:p>
            <a:r>
              <a:rPr lang="en-US" dirty="0" err="1"/>
              <a:t>Yogalakshmi</a:t>
            </a:r>
            <a:r>
              <a:rPr lang="en-US" dirty="0"/>
              <a:t> S    22cb63</a:t>
            </a:r>
            <a:endParaRPr lang="en-IN" dirty="0"/>
          </a:p>
        </p:txBody>
      </p:sp>
      <p:sp>
        <p:nvSpPr>
          <p:cNvPr id="3" name="TextBox 2">
            <a:extLst>
              <a:ext uri="{FF2B5EF4-FFF2-40B4-BE49-F238E27FC236}">
                <a16:creationId xmlns:a16="http://schemas.microsoft.com/office/drawing/2014/main" id="{8E416DC4-4008-6F19-B5DD-D7CD17CB12D4}"/>
              </a:ext>
            </a:extLst>
          </p:cNvPr>
          <p:cNvSpPr txBox="1"/>
          <p:nvPr/>
        </p:nvSpPr>
        <p:spPr>
          <a:xfrm>
            <a:off x="5054919" y="2394284"/>
            <a:ext cx="513282" cy="369332"/>
          </a:xfrm>
          <a:prstGeom prst="rect">
            <a:avLst/>
          </a:prstGeom>
          <a:noFill/>
        </p:spPr>
        <p:txBody>
          <a:bodyPr wrap="none" rtlCol="0">
            <a:spAutoFit/>
          </a:bodyPr>
          <a:lstStyle/>
          <a:p>
            <a:r>
              <a:rPr lang="en-US" dirty="0"/>
              <a:t>BY</a:t>
            </a:r>
            <a:endParaRPr lang="en-IN" dirty="0"/>
          </a:p>
        </p:txBody>
      </p:sp>
    </p:spTree>
    <p:extLst>
      <p:ext uri="{BB962C8B-B14F-4D97-AF65-F5344CB8AC3E}">
        <p14:creationId xmlns:p14="http://schemas.microsoft.com/office/powerpoint/2010/main" val="119653720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87</TotalTime>
  <Words>793</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Schoolbook</vt:lpstr>
      <vt:lpstr>Wingdings 2</vt:lpstr>
      <vt:lpstr>View</vt:lpstr>
      <vt:lpstr>  Healthcare Data Insights</vt:lpstr>
      <vt:lpstr>ABSTRACT</vt:lpstr>
      <vt:lpstr>Project Goal</vt:lpstr>
      <vt:lpstr>Tools &amp; Technologies Used</vt:lpstr>
      <vt:lpstr>Dataset Overview</vt:lpstr>
      <vt:lpstr>DAX Queries Used</vt:lpstr>
      <vt:lpstr>SQL Queries Used</vt:lpstr>
      <vt:lpstr>PowerPoint Presentation</vt:lpstr>
      <vt:lpstr>Insights Derived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AND STREAMING DATA ANALYSIS</dc:title>
  <dc:creator>Microsoft account</dc:creator>
  <cp:lastModifiedBy>Yoga Lakshmi S</cp:lastModifiedBy>
  <cp:revision>11</cp:revision>
  <dcterms:created xsi:type="dcterms:W3CDTF">2025-04-21T05:22:49Z</dcterms:created>
  <dcterms:modified xsi:type="dcterms:W3CDTF">2025-05-04T11:09:43Z</dcterms:modified>
</cp:coreProperties>
</file>